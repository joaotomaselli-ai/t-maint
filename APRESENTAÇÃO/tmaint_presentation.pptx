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2475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e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e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6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0465" y="358697"/>
            <a:ext cx="2577443" cy="257744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54443" y="2571694"/>
            <a:ext cx="6429375" cy="507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pt-BR" sz="3750" b="1" kern="0" spc="-2" dirty="0">
                <a:solidFill>
                  <a:srgbClr val="073B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Gestão</a:t>
            </a:r>
            <a:r>
              <a:rPr lang="en-US" sz="3750" b="1" kern="0" spc="-2" dirty="0">
                <a:solidFill>
                  <a:srgbClr val="073B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</a:t>
            </a:r>
            <a:r>
              <a:rPr lang="pt-BR" sz="3750" b="1" kern="0" spc="-2" dirty="0">
                <a:solidFill>
                  <a:srgbClr val="073B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Inteligente</a:t>
            </a:r>
            <a:r>
              <a:rPr lang="en-US" sz="3750" b="1" kern="0" spc="-2" dirty="0">
                <a:solidFill>
                  <a:srgbClr val="073B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de </a:t>
            </a:r>
            <a:r>
              <a:rPr lang="en-US" sz="3750" b="1" kern="0" spc="-2" dirty="0" err="1">
                <a:solidFill>
                  <a:srgbClr val="073B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Manutenção</a:t>
            </a:r>
            <a:endParaRPr lang="en-US" sz="3750" dirty="0"/>
          </a:p>
        </p:txBody>
      </p:sp>
      <p:sp>
        <p:nvSpPr>
          <p:cNvPr id="5" name="Text 1"/>
          <p:cNvSpPr/>
          <p:nvPr/>
        </p:nvSpPr>
        <p:spPr>
          <a:xfrm>
            <a:off x="1711630" y="4441448"/>
            <a:ext cx="5715000" cy="560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50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a operação, reduza discussões e entregue uma experiência mais profissional ao cliente.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3574809" y="4086026"/>
            <a:ext cx="1988642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kern="0" spc="2" dirty="0">
                <a:solidFill>
                  <a:srgbClr val="005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 COMERCIAL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285750"/>
            <a:ext cx="228600" cy="228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265" y="342900"/>
            <a:ext cx="40038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005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11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514350" y="857250"/>
            <a:ext cx="3190856" cy="1028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650" b="1" kern="0" spc="-1" dirty="0">
                <a:solidFill>
                  <a:srgbClr val="073B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 problema não é falta de </a:t>
            </a:r>
            <a:r>
              <a:rPr lang="en-US" sz="2650" b="1" kern="0" spc="-1" dirty="0" err="1">
                <a:solidFill>
                  <a:srgbClr val="073B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esforço</a:t>
            </a:r>
            <a:r>
              <a:rPr lang="en-US" sz="2650" b="1" kern="0" spc="-1" dirty="0">
                <a:solidFill>
                  <a:srgbClr val="073B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. É falta de visibilidade.</a:t>
            </a:r>
            <a:endParaRPr lang="en-US" sz="2650" dirty="0"/>
          </a:p>
        </p:txBody>
      </p:sp>
      <p:sp>
        <p:nvSpPr>
          <p:cNvPr id="6" name="Text 2"/>
          <p:cNvSpPr/>
          <p:nvPr/>
        </p:nvSpPr>
        <p:spPr>
          <a:xfrm>
            <a:off x="514350" y="2788741"/>
            <a:ext cx="3190856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OS, WhatsApp, planilhas e fotos ficam separados, a empresa perde tempo para responder quatro perguntas simples.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514350" y="3910310"/>
            <a:ext cx="3190856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kern="0" spc="1" dirty="0">
                <a:solidFill>
                  <a:srgbClr val="1DB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IDEIA-CHAVE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514350" y="4121721"/>
            <a:ext cx="299401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T-Maint organiza a operação para que a gestão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14350" y="4301710"/>
            <a:ext cx="255802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decida com o mesmo contexto do campo.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4162406" y="942975"/>
            <a:ext cx="2147869" cy="167649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4162406" y="942975"/>
            <a:ext cx="2147869" cy="28575"/>
          </a:xfrm>
          <a:prstGeom prst="rect">
            <a:avLst/>
          </a:prstGeom>
          <a:solidFill>
            <a:srgbClr val="073B66"/>
          </a:solidFill>
          <a:ln/>
        </p:spPr>
      </p:sp>
      <p:sp>
        <p:nvSpPr>
          <p:cNvPr id="12" name="Shape 8"/>
          <p:cNvSpPr/>
          <p:nvPr/>
        </p:nvSpPr>
        <p:spPr>
          <a:xfrm>
            <a:off x="6303132" y="942975"/>
            <a:ext cx="7144" cy="1676493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13" name="Shape 9"/>
          <p:cNvSpPr/>
          <p:nvPr/>
        </p:nvSpPr>
        <p:spPr>
          <a:xfrm>
            <a:off x="4162406" y="2612324"/>
            <a:ext cx="2147869" cy="7144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14" name="Shape 10"/>
          <p:cNvSpPr/>
          <p:nvPr/>
        </p:nvSpPr>
        <p:spPr>
          <a:xfrm>
            <a:off x="4162406" y="942975"/>
            <a:ext cx="7144" cy="1676493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15" name="Text 11"/>
          <p:cNvSpPr/>
          <p:nvPr/>
        </p:nvSpPr>
        <p:spPr>
          <a:xfrm>
            <a:off x="4333856" y="1114425"/>
            <a:ext cx="180496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600" b="1" dirty="0">
                <a:solidFill>
                  <a:srgbClr val="1DB5B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?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333856" y="1457325"/>
            <a:ext cx="1804969" cy="37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0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está aberto agora?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81725" y="942975"/>
            <a:ext cx="2147925" cy="167649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4"/>
          <p:cNvSpPr/>
          <p:nvPr/>
        </p:nvSpPr>
        <p:spPr>
          <a:xfrm>
            <a:off x="6481725" y="942975"/>
            <a:ext cx="2147925" cy="28575"/>
          </a:xfrm>
          <a:prstGeom prst="rect">
            <a:avLst/>
          </a:prstGeom>
          <a:solidFill>
            <a:srgbClr val="073B66"/>
          </a:solidFill>
          <a:ln/>
        </p:spPr>
      </p:sp>
      <p:sp>
        <p:nvSpPr>
          <p:cNvPr id="19" name="Shape 15"/>
          <p:cNvSpPr/>
          <p:nvPr/>
        </p:nvSpPr>
        <p:spPr>
          <a:xfrm>
            <a:off x="8622506" y="942975"/>
            <a:ext cx="7144" cy="1676493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20" name="Shape 16"/>
          <p:cNvSpPr/>
          <p:nvPr/>
        </p:nvSpPr>
        <p:spPr>
          <a:xfrm>
            <a:off x="6481725" y="2612324"/>
            <a:ext cx="2147925" cy="7144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21" name="Shape 17"/>
          <p:cNvSpPr/>
          <p:nvPr/>
        </p:nvSpPr>
        <p:spPr>
          <a:xfrm>
            <a:off x="6481725" y="942975"/>
            <a:ext cx="7144" cy="1676493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22" name="Text 18"/>
          <p:cNvSpPr/>
          <p:nvPr/>
        </p:nvSpPr>
        <p:spPr>
          <a:xfrm>
            <a:off x="6653175" y="1114425"/>
            <a:ext cx="18050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600" b="1" dirty="0">
                <a:solidFill>
                  <a:srgbClr val="1DB5B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?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6653175" y="1457325"/>
            <a:ext cx="1805025" cy="37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0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está responsável?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162406" y="2790918"/>
            <a:ext cx="2147869" cy="167649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1"/>
          <p:cNvSpPr/>
          <p:nvPr/>
        </p:nvSpPr>
        <p:spPr>
          <a:xfrm>
            <a:off x="4162406" y="2790918"/>
            <a:ext cx="2147869" cy="28575"/>
          </a:xfrm>
          <a:prstGeom prst="rect">
            <a:avLst/>
          </a:prstGeom>
          <a:solidFill>
            <a:srgbClr val="073B66"/>
          </a:solidFill>
          <a:ln/>
        </p:spPr>
      </p:sp>
      <p:sp>
        <p:nvSpPr>
          <p:cNvPr id="26" name="Shape 22"/>
          <p:cNvSpPr/>
          <p:nvPr/>
        </p:nvSpPr>
        <p:spPr>
          <a:xfrm>
            <a:off x="6303132" y="2790918"/>
            <a:ext cx="7144" cy="1676493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27" name="Shape 23"/>
          <p:cNvSpPr/>
          <p:nvPr/>
        </p:nvSpPr>
        <p:spPr>
          <a:xfrm>
            <a:off x="4162406" y="4460267"/>
            <a:ext cx="2147869" cy="7144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28" name="Shape 24"/>
          <p:cNvSpPr/>
          <p:nvPr/>
        </p:nvSpPr>
        <p:spPr>
          <a:xfrm>
            <a:off x="4162406" y="2790918"/>
            <a:ext cx="7144" cy="1676493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29" name="Text 25"/>
          <p:cNvSpPr/>
          <p:nvPr/>
        </p:nvSpPr>
        <p:spPr>
          <a:xfrm>
            <a:off x="4333856" y="2962368"/>
            <a:ext cx="180496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600" b="1" dirty="0">
                <a:solidFill>
                  <a:srgbClr val="1DB5B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?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4333856" y="3305268"/>
            <a:ext cx="1804969" cy="37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0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foi realmente executado?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6481725" y="2790918"/>
            <a:ext cx="2147925" cy="167649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8"/>
          <p:cNvSpPr/>
          <p:nvPr/>
        </p:nvSpPr>
        <p:spPr>
          <a:xfrm>
            <a:off x="6481725" y="2790918"/>
            <a:ext cx="2147925" cy="28575"/>
          </a:xfrm>
          <a:prstGeom prst="rect">
            <a:avLst/>
          </a:prstGeom>
          <a:solidFill>
            <a:srgbClr val="073B66"/>
          </a:solidFill>
          <a:ln/>
        </p:spPr>
      </p:sp>
      <p:sp>
        <p:nvSpPr>
          <p:cNvPr id="33" name="Shape 29"/>
          <p:cNvSpPr/>
          <p:nvPr/>
        </p:nvSpPr>
        <p:spPr>
          <a:xfrm>
            <a:off x="8622506" y="2790918"/>
            <a:ext cx="7144" cy="1676493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34" name="Shape 30"/>
          <p:cNvSpPr/>
          <p:nvPr/>
        </p:nvSpPr>
        <p:spPr>
          <a:xfrm>
            <a:off x="6481725" y="4460267"/>
            <a:ext cx="2147925" cy="7144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35" name="Shape 31"/>
          <p:cNvSpPr/>
          <p:nvPr/>
        </p:nvSpPr>
        <p:spPr>
          <a:xfrm>
            <a:off x="6481725" y="2790918"/>
            <a:ext cx="7144" cy="1676493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36" name="Text 32"/>
          <p:cNvSpPr/>
          <p:nvPr/>
        </p:nvSpPr>
        <p:spPr>
          <a:xfrm>
            <a:off x="6653175" y="2962368"/>
            <a:ext cx="18050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600" b="1" dirty="0">
                <a:solidFill>
                  <a:srgbClr val="1DB5B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?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6653175" y="3305268"/>
            <a:ext cx="1805025" cy="37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0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deve ser pago ou faturado?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285750"/>
            <a:ext cx="228600" cy="228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265" y="342900"/>
            <a:ext cx="40038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005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11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514350" y="800100"/>
            <a:ext cx="8115300" cy="3900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650" b="1" kern="0" spc="-1" dirty="0">
                <a:solidFill>
                  <a:srgbClr val="073B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 que o cliente compra é previsibilidade.</a:t>
            </a:r>
            <a:endParaRPr lang="en-US" sz="2650" dirty="0"/>
          </a:p>
        </p:txBody>
      </p:sp>
      <p:sp>
        <p:nvSpPr>
          <p:cNvPr id="6" name="Text 2"/>
          <p:cNvSpPr/>
          <p:nvPr/>
        </p:nvSpPr>
        <p:spPr>
          <a:xfrm>
            <a:off x="514350" y="1561579"/>
            <a:ext cx="6429375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T-Maint não é apenas um cadastro de ordens de serviço. É uma camada de controle que transforma trabalho técnico em informação para decisão.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514350" y="2373064"/>
            <a:ext cx="4057650" cy="48934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4"/>
          <p:cNvSpPr/>
          <p:nvPr/>
        </p:nvSpPr>
        <p:spPr>
          <a:xfrm>
            <a:off x="514350" y="2855268"/>
            <a:ext cx="4057650" cy="7144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9" name="Text 5"/>
          <p:cNvSpPr/>
          <p:nvPr/>
        </p:nvSpPr>
        <p:spPr>
          <a:xfrm>
            <a:off x="514350" y="2373064"/>
            <a:ext cx="4057650" cy="489347"/>
          </a:xfrm>
          <a:prstGeom prst="rect">
            <a:avLst/>
          </a:prstGeom>
          <a:noFill/>
          <a:ln/>
        </p:spPr>
        <p:txBody>
          <a:bodyPr wrap="square" lIns="204089" tIns="170053" rIns="0" bIns="170053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1" dirty="0">
                <a:solidFill>
                  <a:srgbClr val="64748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ANTES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0" y="2373064"/>
            <a:ext cx="4057650" cy="489347"/>
          </a:xfrm>
          <a:prstGeom prst="rect">
            <a:avLst/>
          </a:prstGeom>
          <a:solidFill>
            <a:srgbClr val="005B9A"/>
          </a:solidFill>
          <a:ln/>
        </p:spPr>
      </p:sp>
      <p:sp>
        <p:nvSpPr>
          <p:cNvPr id="11" name="Shape 7"/>
          <p:cNvSpPr/>
          <p:nvPr/>
        </p:nvSpPr>
        <p:spPr>
          <a:xfrm>
            <a:off x="4572000" y="2855268"/>
            <a:ext cx="4057650" cy="7144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0" y="2373064"/>
            <a:ext cx="4057650" cy="489347"/>
          </a:xfrm>
          <a:prstGeom prst="rect">
            <a:avLst/>
          </a:prstGeom>
          <a:noFill/>
          <a:ln/>
        </p:spPr>
        <p:txBody>
          <a:bodyPr wrap="square" lIns="204089" tIns="170053" rIns="0" bIns="170053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COM T-MAINT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285750"/>
            <a:ext cx="228600" cy="228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265" y="342900"/>
            <a:ext cx="40038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1DB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11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514350" y="857250"/>
            <a:ext cx="6429375" cy="84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850" b="1" kern="0" spc="-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Uma jornada única, do chamado à cobrança.</a:t>
            </a:r>
            <a:endParaRPr lang="en-US" sz="2850" dirty="0"/>
          </a:p>
        </p:txBody>
      </p:sp>
      <p:sp>
        <p:nvSpPr>
          <p:cNvPr id="6" name="Text 2"/>
          <p:cNvSpPr/>
          <p:nvPr/>
        </p:nvSpPr>
        <p:spPr>
          <a:xfrm>
            <a:off x="514350" y="2068785"/>
            <a:ext cx="5715000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plataforma conecta as quatro decisões que mais impactam a margem e a experiência do cliente.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514350" y="2965996"/>
            <a:ext cx="371475" cy="371475"/>
          </a:xfrm>
          <a:prstGeom prst="rect">
            <a:avLst/>
          </a:prstGeom>
          <a:solidFill>
            <a:srgbClr val="073B66"/>
          </a:solidFill>
          <a:ln w="18288">
            <a:solidFill>
              <a:srgbClr val="1DB5B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14350" y="2965996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B5B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14350" y="3480346"/>
            <a:ext cx="1857375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Priorizar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14350" y="3826818"/>
            <a:ext cx="18573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administração vê urgência, idade e responsável de forma imediata.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2600325" y="2965996"/>
            <a:ext cx="371475" cy="371475"/>
          </a:xfrm>
          <a:prstGeom prst="rect">
            <a:avLst/>
          </a:prstGeom>
          <a:solidFill>
            <a:srgbClr val="073B66"/>
          </a:solidFill>
          <a:ln w="18288">
            <a:solidFill>
              <a:srgbClr val="1DB5B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600325" y="2965996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B5B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600325" y="3480346"/>
            <a:ext cx="1857375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Executar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600325" y="3826818"/>
            <a:ext cx="18573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técnico registra horas, KM, fotos e peças diretamente no campo.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4686300" y="2965996"/>
            <a:ext cx="371475" cy="371475"/>
          </a:xfrm>
          <a:prstGeom prst="rect">
            <a:avLst/>
          </a:prstGeom>
          <a:solidFill>
            <a:srgbClr val="073B66"/>
          </a:solidFill>
          <a:ln w="18288">
            <a:solidFill>
              <a:srgbClr val="1DB5B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686300" y="2965996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B5B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686300" y="3480346"/>
            <a:ext cx="1857375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Validar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686300" y="3826818"/>
            <a:ext cx="18573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gestão confirma o que foi feito com base em dados reais antes de fechar.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6772275" y="2965996"/>
            <a:ext cx="371475" cy="371475"/>
          </a:xfrm>
          <a:prstGeom prst="rect">
            <a:avLst/>
          </a:prstGeom>
          <a:solidFill>
            <a:srgbClr val="073B66"/>
          </a:solidFill>
          <a:ln w="18288">
            <a:solidFill>
              <a:srgbClr val="1DB5B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772275" y="2965996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B5B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772275" y="3480346"/>
            <a:ext cx="1857375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Comprovar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772275" y="3826818"/>
            <a:ext cx="18573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cliente recebe um relatório profissional assinado como prova do serviço.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514350" y="4764044"/>
            <a:ext cx="8115300" cy="328613"/>
          </a:xfrm>
          <a:prstGeom prst="rect">
            <a:avLst/>
          </a:prstGeom>
          <a:noFill/>
          <a:ln/>
        </p:spPr>
        <p:txBody>
          <a:bodyPr wrap="square" lIns="0" tIns="204089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1DB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</a:t>
            </a: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lacunas entre operação, financeiro e atendimento.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285750"/>
            <a:ext cx="228600" cy="228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265" y="342900"/>
            <a:ext cx="40038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005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11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514350" y="857250"/>
            <a:ext cx="3190856" cy="1170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650" b="1" kern="0" spc="-1" dirty="0">
                <a:solidFill>
                  <a:srgbClr val="073B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OS vira uma prova do serviço prestado.</a:t>
            </a:r>
            <a:endParaRPr lang="en-US" sz="2650" dirty="0"/>
          </a:p>
        </p:txBody>
      </p:sp>
      <p:sp>
        <p:nvSpPr>
          <p:cNvPr id="6" name="Text 2"/>
          <p:cNvSpPr/>
          <p:nvPr/>
        </p:nvSpPr>
        <p:spPr>
          <a:xfrm>
            <a:off x="514350" y="2398737"/>
            <a:ext cx="3190856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atendimento reúne os elementos que normalmente ficam espalhados em mensagens, papéis e memórias individuais.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514350" y="3520306"/>
            <a:ext cx="3190856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kern="0" spc="1" dirty="0">
                <a:solidFill>
                  <a:srgbClr val="1DB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PERCEBIDO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514350" y="3731716"/>
            <a:ext cx="283696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cliente entende o que aconteceu; a empresa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14350" y="3911705"/>
            <a:ext cx="234354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consegue demonstrar o que entregou.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4162406" y="914400"/>
            <a:ext cx="4467244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4162406" y="914400"/>
            <a:ext cx="4467244" cy="7144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12" name="Shape 8"/>
          <p:cNvSpPr/>
          <p:nvPr/>
        </p:nvSpPr>
        <p:spPr>
          <a:xfrm>
            <a:off x="8622506" y="914400"/>
            <a:ext cx="7144" cy="714375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13" name="Shape 9"/>
          <p:cNvSpPr/>
          <p:nvPr/>
        </p:nvSpPr>
        <p:spPr>
          <a:xfrm>
            <a:off x="4162406" y="1621631"/>
            <a:ext cx="4467244" cy="7144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14" name="Shape 10"/>
          <p:cNvSpPr/>
          <p:nvPr/>
        </p:nvSpPr>
        <p:spPr>
          <a:xfrm>
            <a:off x="4162406" y="914400"/>
            <a:ext cx="42863" cy="714375"/>
          </a:xfrm>
          <a:prstGeom prst="rect">
            <a:avLst/>
          </a:prstGeom>
          <a:solidFill>
            <a:srgbClr val="073B66"/>
          </a:solidFill>
          <a:ln/>
        </p:spPr>
      </p:sp>
      <p:sp>
        <p:nvSpPr>
          <p:cNvPr id="15" name="Text 11"/>
          <p:cNvSpPr/>
          <p:nvPr/>
        </p:nvSpPr>
        <p:spPr>
          <a:xfrm>
            <a:off x="4333856" y="1064754"/>
            <a:ext cx="4124344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3B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Contexto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333856" y="1318357"/>
            <a:ext cx="4124344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relatado, solicitante, nível de prioridade e histórico da máquina.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162406" y="1771650"/>
            <a:ext cx="4467244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4"/>
          <p:cNvSpPr/>
          <p:nvPr/>
        </p:nvSpPr>
        <p:spPr>
          <a:xfrm>
            <a:off x="4162406" y="1771650"/>
            <a:ext cx="4467244" cy="7144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19" name="Shape 15"/>
          <p:cNvSpPr/>
          <p:nvPr/>
        </p:nvSpPr>
        <p:spPr>
          <a:xfrm>
            <a:off x="8622506" y="1771650"/>
            <a:ext cx="7144" cy="714375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20" name="Shape 16"/>
          <p:cNvSpPr/>
          <p:nvPr/>
        </p:nvSpPr>
        <p:spPr>
          <a:xfrm>
            <a:off x="4162406" y="2478881"/>
            <a:ext cx="4467244" cy="7144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21" name="Shape 17"/>
          <p:cNvSpPr/>
          <p:nvPr/>
        </p:nvSpPr>
        <p:spPr>
          <a:xfrm>
            <a:off x="4162406" y="1771650"/>
            <a:ext cx="42863" cy="714375"/>
          </a:xfrm>
          <a:prstGeom prst="rect">
            <a:avLst/>
          </a:prstGeom>
          <a:solidFill>
            <a:srgbClr val="073B66"/>
          </a:solidFill>
          <a:ln/>
        </p:spPr>
      </p:sp>
      <p:sp>
        <p:nvSpPr>
          <p:cNvPr id="22" name="Text 18"/>
          <p:cNvSpPr/>
          <p:nvPr/>
        </p:nvSpPr>
        <p:spPr>
          <a:xfrm>
            <a:off x="4333856" y="1922004"/>
            <a:ext cx="4124344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3B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Execução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333856" y="2175607"/>
            <a:ext cx="4124344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trabalhadas, quilometragem de deslocamento, apontamentos e materiais.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4162406" y="2628900"/>
            <a:ext cx="4467244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1"/>
          <p:cNvSpPr/>
          <p:nvPr/>
        </p:nvSpPr>
        <p:spPr>
          <a:xfrm>
            <a:off x="4162406" y="2628900"/>
            <a:ext cx="4467244" cy="7144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26" name="Shape 22"/>
          <p:cNvSpPr/>
          <p:nvPr/>
        </p:nvSpPr>
        <p:spPr>
          <a:xfrm>
            <a:off x="8622506" y="2628900"/>
            <a:ext cx="7144" cy="714375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27" name="Shape 23"/>
          <p:cNvSpPr/>
          <p:nvPr/>
        </p:nvSpPr>
        <p:spPr>
          <a:xfrm>
            <a:off x="4162406" y="3336131"/>
            <a:ext cx="4467244" cy="7144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28" name="Shape 24"/>
          <p:cNvSpPr/>
          <p:nvPr/>
        </p:nvSpPr>
        <p:spPr>
          <a:xfrm>
            <a:off x="4162406" y="2628900"/>
            <a:ext cx="42863" cy="714375"/>
          </a:xfrm>
          <a:prstGeom prst="rect">
            <a:avLst/>
          </a:prstGeom>
          <a:solidFill>
            <a:srgbClr val="073B66"/>
          </a:solidFill>
          <a:ln/>
        </p:spPr>
      </p:sp>
      <p:sp>
        <p:nvSpPr>
          <p:cNvPr id="29" name="Text 25"/>
          <p:cNvSpPr/>
          <p:nvPr/>
        </p:nvSpPr>
        <p:spPr>
          <a:xfrm>
            <a:off x="4333856" y="2779254"/>
            <a:ext cx="4124344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3B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Evidência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4333856" y="3032857"/>
            <a:ext cx="4124344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do local e do equipamento capturadas no pré e pós-atendimento.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4162406" y="3486150"/>
            <a:ext cx="4467244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8"/>
          <p:cNvSpPr/>
          <p:nvPr/>
        </p:nvSpPr>
        <p:spPr>
          <a:xfrm>
            <a:off x="4162406" y="3486150"/>
            <a:ext cx="4467244" cy="7144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33" name="Shape 29"/>
          <p:cNvSpPr/>
          <p:nvPr/>
        </p:nvSpPr>
        <p:spPr>
          <a:xfrm>
            <a:off x="8622506" y="3486150"/>
            <a:ext cx="7144" cy="714375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34" name="Shape 30"/>
          <p:cNvSpPr/>
          <p:nvPr/>
        </p:nvSpPr>
        <p:spPr>
          <a:xfrm>
            <a:off x="4162406" y="4193381"/>
            <a:ext cx="4467244" cy="7144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35" name="Shape 31"/>
          <p:cNvSpPr/>
          <p:nvPr/>
        </p:nvSpPr>
        <p:spPr>
          <a:xfrm>
            <a:off x="4162406" y="3486150"/>
            <a:ext cx="42863" cy="714375"/>
          </a:xfrm>
          <a:prstGeom prst="rect">
            <a:avLst/>
          </a:prstGeom>
          <a:solidFill>
            <a:srgbClr val="073B66"/>
          </a:solidFill>
          <a:ln/>
        </p:spPr>
      </p:sp>
      <p:sp>
        <p:nvSpPr>
          <p:cNvPr id="36" name="Text 32"/>
          <p:cNvSpPr/>
          <p:nvPr/>
        </p:nvSpPr>
        <p:spPr>
          <a:xfrm>
            <a:off x="4333856" y="3636504"/>
            <a:ext cx="4124344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3B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Aceite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4333856" y="3890107"/>
            <a:ext cx="4124344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PDF gerado na hora com assinatura digital do cliente e do técnico.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285750"/>
            <a:ext cx="228600" cy="228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265" y="342900"/>
            <a:ext cx="40038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1DB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11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514350" y="857250"/>
            <a:ext cx="3829050" cy="1170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650" b="1" kern="0" spc="-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equipe técnica trabalha com menos fricção.</a:t>
            </a:r>
            <a:endParaRPr lang="en-US" sz="2650" dirty="0"/>
          </a:p>
        </p:txBody>
      </p:sp>
      <p:sp>
        <p:nvSpPr>
          <p:cNvPr id="6" name="Text 2"/>
          <p:cNvSpPr/>
          <p:nvPr/>
        </p:nvSpPr>
        <p:spPr>
          <a:xfrm>
            <a:off x="514350" y="2398737"/>
            <a:ext cx="38290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experiência responsiva leva o registro para o local do atendimento sem exigir uma instalação pesada.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514350" y="3027387"/>
            <a:ext cx="114300" cy="154260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DB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742950" y="3027387"/>
            <a:ext cx="3600450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técnico acessa somente os atendimentos sob sua responsabilidade.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514350" y="3295948"/>
            <a:ext cx="114300" cy="308521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DB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742950" y="3295948"/>
            <a:ext cx="3600450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Horas, KM, fotos e peças são registrados no momento exato da execução.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514350" y="3718768"/>
            <a:ext cx="114300" cy="308521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DB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742950" y="3718768"/>
            <a:ext cx="3600450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administração acompanha a evolução da fila sem interromper o campo.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514350" y="4548783"/>
            <a:ext cx="3829050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kern="0" spc="1" dirty="0">
                <a:solidFill>
                  <a:srgbClr val="1DB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COMERCIAL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514350" y="4760193"/>
            <a:ext cx="327234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tempo executando; menos tempo reconstruindo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14350" y="4940182"/>
            <a:ext cx="117899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informação depois.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800600" y="857250"/>
            <a:ext cx="3829050" cy="3429000"/>
          </a:xfrm>
          <a:prstGeom prst="rect">
            <a:avLst/>
          </a:prstGeom>
          <a:solidFill>
            <a:srgbClr val="FFFFFF"/>
          </a:solidFill>
          <a:ln w="27432">
            <a:solidFill>
              <a:srgbClr val="1DB5B2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857250"/>
            <a:ext cx="382905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285750"/>
            <a:ext cx="228600" cy="228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265" y="342900"/>
            <a:ext cx="40038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005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11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514350" y="800100"/>
            <a:ext cx="8115300" cy="3900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650" b="1" kern="0" spc="-1" dirty="0">
                <a:solidFill>
                  <a:srgbClr val="073B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gestão age primeiro onde o atraso custa mais.</a:t>
            </a:r>
            <a:endParaRPr lang="en-US" sz="2650" dirty="0"/>
          </a:p>
        </p:txBody>
      </p:sp>
      <p:sp>
        <p:nvSpPr>
          <p:cNvPr id="6" name="Text 2"/>
          <p:cNvSpPr/>
          <p:nvPr/>
        </p:nvSpPr>
        <p:spPr>
          <a:xfrm>
            <a:off x="514350" y="1561579"/>
            <a:ext cx="6429375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fila única transforma prioridade em rotina de gestão — não em cobrança informal.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514350" y="2181634"/>
            <a:ext cx="1900238" cy="1086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4"/>
          <p:cNvSpPr/>
          <p:nvPr/>
        </p:nvSpPr>
        <p:spPr>
          <a:xfrm>
            <a:off x="514350" y="2181634"/>
            <a:ext cx="1900238" cy="42863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Shape 5"/>
          <p:cNvSpPr/>
          <p:nvPr/>
        </p:nvSpPr>
        <p:spPr>
          <a:xfrm>
            <a:off x="2407444" y="2181634"/>
            <a:ext cx="7144" cy="1086520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10" name="Shape 6"/>
          <p:cNvSpPr/>
          <p:nvPr/>
        </p:nvSpPr>
        <p:spPr>
          <a:xfrm>
            <a:off x="514350" y="3261010"/>
            <a:ext cx="1900238" cy="7144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11" name="Shape 7"/>
          <p:cNvSpPr/>
          <p:nvPr/>
        </p:nvSpPr>
        <p:spPr>
          <a:xfrm>
            <a:off x="514350" y="2181634"/>
            <a:ext cx="7144" cy="1086520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12" name="Text 8"/>
          <p:cNvSpPr/>
          <p:nvPr/>
        </p:nvSpPr>
        <p:spPr>
          <a:xfrm>
            <a:off x="685800" y="2353084"/>
            <a:ext cx="1557338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kern="0" spc="1" dirty="0">
                <a:solidFill>
                  <a:srgbClr val="073B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URGENTE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85800" y="2699556"/>
            <a:ext cx="1557338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 imediata e alocação prioritária.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2586038" y="2181634"/>
            <a:ext cx="1900238" cy="1086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2586038" y="2181634"/>
            <a:ext cx="1900238" cy="42863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Shape 12"/>
          <p:cNvSpPr/>
          <p:nvPr/>
        </p:nvSpPr>
        <p:spPr>
          <a:xfrm>
            <a:off x="4479131" y="2181634"/>
            <a:ext cx="7144" cy="1086520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17" name="Shape 13"/>
          <p:cNvSpPr/>
          <p:nvPr/>
        </p:nvSpPr>
        <p:spPr>
          <a:xfrm>
            <a:off x="2586038" y="3261010"/>
            <a:ext cx="1900238" cy="7144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18" name="Shape 14"/>
          <p:cNvSpPr/>
          <p:nvPr/>
        </p:nvSpPr>
        <p:spPr>
          <a:xfrm>
            <a:off x="2586038" y="2181634"/>
            <a:ext cx="7144" cy="1086520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19" name="Text 15"/>
          <p:cNvSpPr/>
          <p:nvPr/>
        </p:nvSpPr>
        <p:spPr>
          <a:xfrm>
            <a:off x="2757488" y="2353084"/>
            <a:ext cx="1557338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kern="0" spc="1" dirty="0">
                <a:solidFill>
                  <a:srgbClr val="073B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ALTA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2757488" y="2699556"/>
            <a:ext cx="1557338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Acompanhamento próximo e execução rápida.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657725" y="2181634"/>
            <a:ext cx="1900238" cy="1086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8"/>
          <p:cNvSpPr/>
          <p:nvPr/>
        </p:nvSpPr>
        <p:spPr>
          <a:xfrm>
            <a:off x="4657725" y="2181634"/>
            <a:ext cx="1900238" cy="42863"/>
          </a:xfrm>
          <a:prstGeom prst="rect">
            <a:avLst/>
          </a:prstGeom>
          <a:solidFill>
            <a:srgbClr val="005B9A"/>
          </a:solidFill>
          <a:ln/>
        </p:spPr>
      </p:sp>
      <p:sp>
        <p:nvSpPr>
          <p:cNvPr id="23" name="Shape 19"/>
          <p:cNvSpPr/>
          <p:nvPr/>
        </p:nvSpPr>
        <p:spPr>
          <a:xfrm>
            <a:off x="6550819" y="2181634"/>
            <a:ext cx="7144" cy="1086520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24" name="Shape 20"/>
          <p:cNvSpPr/>
          <p:nvPr/>
        </p:nvSpPr>
        <p:spPr>
          <a:xfrm>
            <a:off x="4657725" y="3261010"/>
            <a:ext cx="1900238" cy="7144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25" name="Shape 21"/>
          <p:cNvSpPr/>
          <p:nvPr/>
        </p:nvSpPr>
        <p:spPr>
          <a:xfrm>
            <a:off x="4657725" y="2181634"/>
            <a:ext cx="7144" cy="1086520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26" name="Text 22"/>
          <p:cNvSpPr/>
          <p:nvPr/>
        </p:nvSpPr>
        <p:spPr>
          <a:xfrm>
            <a:off x="4829175" y="2353084"/>
            <a:ext cx="1557338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kern="0" spc="1" dirty="0">
                <a:solidFill>
                  <a:srgbClr val="073B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NORMAL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4829175" y="2699556"/>
            <a:ext cx="1557338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Execução planejada dentro do fluxo padrão.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6729413" y="2181634"/>
            <a:ext cx="1900238" cy="1086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5"/>
          <p:cNvSpPr/>
          <p:nvPr/>
        </p:nvSpPr>
        <p:spPr>
          <a:xfrm>
            <a:off x="6729413" y="2181634"/>
            <a:ext cx="1900238" cy="4286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0" name="Shape 26"/>
          <p:cNvSpPr/>
          <p:nvPr/>
        </p:nvSpPr>
        <p:spPr>
          <a:xfrm>
            <a:off x="8622506" y="2181634"/>
            <a:ext cx="7144" cy="1086520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31" name="Shape 27"/>
          <p:cNvSpPr/>
          <p:nvPr/>
        </p:nvSpPr>
        <p:spPr>
          <a:xfrm>
            <a:off x="6729413" y="3261010"/>
            <a:ext cx="1900238" cy="7144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32" name="Shape 28"/>
          <p:cNvSpPr/>
          <p:nvPr/>
        </p:nvSpPr>
        <p:spPr>
          <a:xfrm>
            <a:off x="6729413" y="2181634"/>
            <a:ext cx="7144" cy="1086520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33" name="Text 29"/>
          <p:cNvSpPr/>
          <p:nvPr/>
        </p:nvSpPr>
        <p:spPr>
          <a:xfrm>
            <a:off x="6900863" y="2353084"/>
            <a:ext cx="1557338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kern="0" spc="1" dirty="0">
                <a:solidFill>
                  <a:srgbClr val="073B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BAIXA</a:t>
            </a:r>
            <a:endParaRPr lang="en-US" sz="1400" dirty="0"/>
          </a:p>
        </p:txBody>
      </p:sp>
      <p:sp>
        <p:nvSpPr>
          <p:cNvPr id="34" name="Text 30"/>
          <p:cNvSpPr/>
          <p:nvPr/>
        </p:nvSpPr>
        <p:spPr>
          <a:xfrm>
            <a:off x="6900863" y="2699556"/>
            <a:ext cx="1557338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Organização sem perder a visibilidade da demanda.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1000125" y="3618198"/>
            <a:ext cx="7143750" cy="538572"/>
          </a:xfrm>
          <a:prstGeom prst="rect">
            <a:avLst/>
          </a:prstGeom>
          <a:noFill/>
          <a:ln/>
        </p:spPr>
        <p:txBody>
          <a:bodyPr wrap="square" lIns="0" tIns="204089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leitura por status, idade e prioridade ajuda a proteger o SLA e evita que a OS mais antiga desapareça no meio da operação.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285750"/>
            <a:ext cx="228600" cy="228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265" y="342900"/>
            <a:ext cx="40038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1DB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11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514350" y="857250"/>
            <a:ext cx="3190856" cy="1170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650" b="1" kern="0" spc="-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margem começa no registro do campo.</a:t>
            </a:r>
            <a:endParaRPr lang="en-US" sz="2650" dirty="0"/>
          </a:p>
        </p:txBody>
      </p:sp>
      <p:sp>
        <p:nvSpPr>
          <p:cNvPr id="6" name="Text 2"/>
          <p:cNvSpPr/>
          <p:nvPr/>
        </p:nvSpPr>
        <p:spPr>
          <a:xfrm>
            <a:off x="514350" y="2398737"/>
            <a:ext cx="319085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Horas, KM e peças entram no fechamento com origem, contexto e vínculo direto à OS.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638" y="3041675"/>
            <a:ext cx="3162281" cy="16859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62406" y="957263"/>
            <a:ext cx="2233594" cy="428625"/>
          </a:xfrm>
          <a:prstGeom prst="rect">
            <a:avLst/>
          </a:prstGeom>
          <a:noFill/>
          <a:ln/>
        </p:spPr>
        <p:txBody>
          <a:bodyPr wrap="square" lIns="0" tIns="136017" rIns="204089" bIns="136017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kern="0" spc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 QUE É REGISTRADO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6396000" y="957263"/>
            <a:ext cx="2233650" cy="428625"/>
          </a:xfrm>
          <a:prstGeom prst="rect">
            <a:avLst/>
          </a:prstGeom>
          <a:noFill/>
          <a:ln/>
        </p:spPr>
        <p:txBody>
          <a:bodyPr wrap="square" lIns="0" tIns="136017" rIns="204089" bIns="136017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kern="0" spc="1" dirty="0">
                <a:solidFill>
                  <a:srgbClr val="B0C4D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COMO VIRA CONTROLE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4162406" y="1400175"/>
            <a:ext cx="2233594" cy="702878"/>
          </a:xfrm>
          <a:prstGeom prst="rect">
            <a:avLst/>
          </a:prstGeom>
          <a:noFill/>
          <a:ln/>
        </p:spPr>
        <p:txBody>
          <a:bodyPr wrap="square" lIns="0" tIns="204089" rIns="204089" bIns="204089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normais e extras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6396000" y="1400175"/>
            <a:ext cx="2233650" cy="702878"/>
          </a:xfrm>
          <a:prstGeom prst="rect">
            <a:avLst/>
          </a:prstGeom>
          <a:noFill/>
          <a:ln/>
        </p:spPr>
        <p:txBody>
          <a:bodyPr wrap="square" lIns="0" tIns="204089" rIns="204089" bIns="204089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Apuração por técnico e faturamento de contratado versus excedente.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4162406" y="2110197"/>
            <a:ext cx="2233594" cy="882867"/>
          </a:xfrm>
          <a:prstGeom prst="rect">
            <a:avLst/>
          </a:prstGeom>
          <a:noFill/>
          <a:ln/>
        </p:spPr>
        <p:txBody>
          <a:bodyPr wrap="square" lIns="0" tIns="204089" rIns="204089" bIns="204089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 e deslocamentos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6396000" y="2110197"/>
            <a:ext cx="2233650" cy="882867"/>
          </a:xfrm>
          <a:prstGeom prst="rect">
            <a:avLst/>
          </a:prstGeom>
          <a:noFill/>
          <a:ln/>
        </p:spPr>
        <p:txBody>
          <a:bodyPr wrap="square" lIns="0" tIns="204089" rIns="204089" bIns="204089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Demonstrativo claro para reembolso da equipe e cobrança do cliente.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4162406" y="3000208"/>
            <a:ext cx="2233594" cy="702878"/>
          </a:xfrm>
          <a:prstGeom prst="rect">
            <a:avLst/>
          </a:prstGeom>
          <a:noFill/>
          <a:ln/>
        </p:spPr>
        <p:txBody>
          <a:bodyPr wrap="square" lIns="0" tIns="204089" rIns="204089" bIns="204089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Peças e insumos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6396000" y="3000208"/>
            <a:ext cx="2233650" cy="702878"/>
          </a:xfrm>
          <a:prstGeom prst="rect">
            <a:avLst/>
          </a:prstGeom>
          <a:noFill/>
          <a:ln/>
        </p:spPr>
        <p:txBody>
          <a:bodyPr wrap="square" lIns="0" tIns="204089" rIns="204089" bIns="204089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Requisição vinculada e abatimento automático do estoque.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4162406" y="4231723"/>
            <a:ext cx="4467244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kern="0" spc="1" dirty="0">
                <a:solidFill>
                  <a:srgbClr val="1DB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DE VALOR</a:t>
            </a:r>
            <a:endParaRPr lang="en-US" sz="700" dirty="0"/>
          </a:p>
        </p:txBody>
      </p:sp>
      <p:sp>
        <p:nvSpPr>
          <p:cNvPr id="17" name="Text 12"/>
          <p:cNvSpPr/>
          <p:nvPr/>
        </p:nvSpPr>
        <p:spPr>
          <a:xfrm>
            <a:off x="4162406" y="4443133"/>
            <a:ext cx="444497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Trocar a conferência manual por um fechamento rastreável — e proteger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4162406" y="4623122"/>
            <a:ext cx="217281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margem sem criar mais planilhas.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285750"/>
            <a:ext cx="228600" cy="228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265" y="342900"/>
            <a:ext cx="40038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005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11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514350" y="857250"/>
            <a:ext cx="3190856" cy="15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650" b="1" kern="0" spc="-1" dirty="0">
                <a:solidFill>
                  <a:srgbClr val="073B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Segurança que sustenta a confiança do cliente.</a:t>
            </a:r>
            <a:endParaRPr lang="en-US" sz="2650" dirty="0"/>
          </a:p>
        </p:txBody>
      </p:sp>
      <p:sp>
        <p:nvSpPr>
          <p:cNvPr id="6" name="Text 2"/>
          <p:cNvSpPr/>
          <p:nvPr/>
        </p:nvSpPr>
        <p:spPr>
          <a:xfrm>
            <a:off x="514350" y="2788741"/>
            <a:ext cx="3190856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arquitetura combina isolamento de dados, perfis de acesso e proteção contínua das informações armazenadas.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514350" y="4024610"/>
            <a:ext cx="319085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" b="1" kern="0" spc="1" dirty="0">
                <a:solidFill>
                  <a:srgbClr val="0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TÉCNICA</a:t>
            </a:r>
            <a:endParaRPr lang="en-US" sz="600" dirty="0"/>
          </a:p>
        </p:txBody>
      </p:sp>
      <p:sp>
        <p:nvSpPr>
          <p:cNvPr id="8" name="Text 4"/>
          <p:cNvSpPr/>
          <p:nvPr/>
        </p:nvSpPr>
        <p:spPr>
          <a:xfrm>
            <a:off x="514350" y="4228207"/>
            <a:ext cx="305763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Detalhes técnicos e políticas de segurança da informação devem ser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514350" y="4378226"/>
            <a:ext cx="315089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validados pela equipe de engenharia do T-Maint antes de qualquer uso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514350" y="4528245"/>
            <a:ext cx="137885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contratual ou auditoria externa.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4162406" y="942975"/>
            <a:ext cx="4467244" cy="930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8"/>
          <p:cNvSpPr/>
          <p:nvPr/>
        </p:nvSpPr>
        <p:spPr>
          <a:xfrm>
            <a:off x="4162406" y="942975"/>
            <a:ext cx="4467244" cy="7144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13" name="Shape 9"/>
          <p:cNvSpPr/>
          <p:nvPr/>
        </p:nvSpPr>
        <p:spPr>
          <a:xfrm>
            <a:off x="8622506" y="942975"/>
            <a:ext cx="7144" cy="930808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14" name="Shape 10"/>
          <p:cNvSpPr/>
          <p:nvPr/>
        </p:nvSpPr>
        <p:spPr>
          <a:xfrm>
            <a:off x="4162406" y="1866640"/>
            <a:ext cx="4467244" cy="7144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15" name="Shape 11"/>
          <p:cNvSpPr/>
          <p:nvPr/>
        </p:nvSpPr>
        <p:spPr>
          <a:xfrm>
            <a:off x="4162406" y="942975"/>
            <a:ext cx="42863" cy="930808"/>
          </a:xfrm>
          <a:prstGeom prst="rect">
            <a:avLst/>
          </a:prstGeom>
          <a:solidFill>
            <a:srgbClr val="1DB5B2"/>
          </a:solidFill>
          <a:ln/>
        </p:spPr>
      </p:sp>
      <p:sp>
        <p:nvSpPr>
          <p:cNvPr id="16" name="Text 12"/>
          <p:cNvSpPr/>
          <p:nvPr/>
        </p:nvSpPr>
        <p:spPr>
          <a:xfrm>
            <a:off x="4391006" y="1114425"/>
            <a:ext cx="4010044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3B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Isolamento multi-tenant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391006" y="1368028"/>
            <a:ext cx="401004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empresa opera no próprio escopo de dados, garantindo que informações de clientes e serviços nunca se misturem.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162406" y="2030946"/>
            <a:ext cx="4467244" cy="930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5"/>
          <p:cNvSpPr/>
          <p:nvPr/>
        </p:nvSpPr>
        <p:spPr>
          <a:xfrm>
            <a:off x="4162406" y="2030946"/>
            <a:ext cx="4467244" cy="7144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20" name="Shape 16"/>
          <p:cNvSpPr/>
          <p:nvPr/>
        </p:nvSpPr>
        <p:spPr>
          <a:xfrm>
            <a:off x="8622506" y="2030946"/>
            <a:ext cx="7144" cy="930808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21" name="Shape 17"/>
          <p:cNvSpPr/>
          <p:nvPr/>
        </p:nvSpPr>
        <p:spPr>
          <a:xfrm>
            <a:off x="4162406" y="2954610"/>
            <a:ext cx="4467244" cy="7144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22" name="Shape 18"/>
          <p:cNvSpPr/>
          <p:nvPr/>
        </p:nvSpPr>
        <p:spPr>
          <a:xfrm>
            <a:off x="4162406" y="2030946"/>
            <a:ext cx="42863" cy="930808"/>
          </a:xfrm>
          <a:prstGeom prst="rect">
            <a:avLst/>
          </a:prstGeom>
          <a:solidFill>
            <a:srgbClr val="1DB5B2"/>
          </a:solidFill>
          <a:ln/>
        </p:spPr>
      </p:sp>
      <p:sp>
        <p:nvSpPr>
          <p:cNvPr id="23" name="Text 19"/>
          <p:cNvSpPr/>
          <p:nvPr/>
        </p:nvSpPr>
        <p:spPr>
          <a:xfrm>
            <a:off x="4391006" y="2202396"/>
            <a:ext cx="4010044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3B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Acesso por papel (RBAC)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391006" y="2455999"/>
            <a:ext cx="401004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administração e o corpo técnico enxergam apenas o que precisam para executar suas funções, reduzindo riscos de vazamento interno.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4162406" y="3118917"/>
            <a:ext cx="4467244" cy="930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2"/>
          <p:cNvSpPr/>
          <p:nvPr/>
        </p:nvSpPr>
        <p:spPr>
          <a:xfrm>
            <a:off x="4162406" y="3118917"/>
            <a:ext cx="4467244" cy="7144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27" name="Shape 23"/>
          <p:cNvSpPr/>
          <p:nvPr/>
        </p:nvSpPr>
        <p:spPr>
          <a:xfrm>
            <a:off x="8622506" y="3118917"/>
            <a:ext cx="7144" cy="930808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28" name="Shape 24"/>
          <p:cNvSpPr/>
          <p:nvPr/>
        </p:nvSpPr>
        <p:spPr>
          <a:xfrm>
            <a:off x="4162406" y="4042581"/>
            <a:ext cx="4467244" cy="7144"/>
          </a:xfrm>
          <a:prstGeom prst="rect">
            <a:avLst/>
          </a:prstGeom>
          <a:solidFill>
            <a:srgbClr val="C9CED7"/>
          </a:solidFill>
          <a:ln/>
        </p:spPr>
      </p:sp>
      <p:sp>
        <p:nvSpPr>
          <p:cNvPr id="29" name="Shape 25"/>
          <p:cNvSpPr/>
          <p:nvPr/>
        </p:nvSpPr>
        <p:spPr>
          <a:xfrm>
            <a:off x="4162406" y="3118917"/>
            <a:ext cx="42863" cy="930808"/>
          </a:xfrm>
          <a:prstGeom prst="rect">
            <a:avLst/>
          </a:prstGeom>
          <a:solidFill>
            <a:srgbClr val="1DB5B2"/>
          </a:solidFill>
          <a:ln/>
        </p:spPr>
      </p:sp>
      <p:sp>
        <p:nvSpPr>
          <p:cNvPr id="30" name="Text 26"/>
          <p:cNvSpPr/>
          <p:nvPr/>
        </p:nvSpPr>
        <p:spPr>
          <a:xfrm>
            <a:off x="4391006" y="3290367"/>
            <a:ext cx="4010044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3B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Proteção técnica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4391006" y="3543970"/>
            <a:ext cx="401004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Comunicação segura via HTTPS, dados confidenciais criptografados em repouso e rotina de backup diário automatizado.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285750"/>
            <a:ext cx="228600" cy="228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265" y="342900"/>
            <a:ext cx="40038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1DB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11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514350" y="800100"/>
            <a:ext cx="8115300" cy="84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84000"/>
              </a:lnSpc>
              <a:buNone/>
            </a:pPr>
            <a:r>
              <a:rPr lang="en-US" sz="2850" b="1" kern="0" spc="-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Um sistema. Três ganhos que aparecem no negócio.</a:t>
            </a:r>
            <a:endParaRPr lang="en-US" sz="2850" dirty="0"/>
          </a:p>
        </p:txBody>
      </p:sp>
      <p:sp>
        <p:nvSpPr>
          <p:cNvPr id="6" name="Text 2"/>
          <p:cNvSpPr/>
          <p:nvPr/>
        </p:nvSpPr>
        <p:spPr>
          <a:xfrm>
            <a:off x="742950" y="2597423"/>
            <a:ext cx="2240738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1" dirty="0">
                <a:solidFill>
                  <a:srgbClr val="1DB5B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VELOCIDADE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742950" y="3033192"/>
            <a:ext cx="22407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tempo procurando status, fotos e apontamentos perdidos.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742950" y="3661842"/>
            <a:ext cx="2240738" cy="235744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E OPERAÇÃO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3448031" y="2597423"/>
            <a:ext cx="2240738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1" dirty="0">
                <a:solidFill>
                  <a:srgbClr val="1DB5B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MARGEM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448031" y="3033192"/>
            <a:ext cx="22407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Horas, KM, peças e excedentes apurados com origem rastreável.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448031" y="3661842"/>
            <a:ext cx="2240738" cy="235744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FINANCEIRO E DIREÇÃO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6153113" y="2597423"/>
            <a:ext cx="2247881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1" dirty="0">
                <a:solidFill>
                  <a:srgbClr val="1DB5B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CONFIANÇA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153113" y="3033192"/>
            <a:ext cx="224788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claro, histórico consolidado e assinatura digital.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6153113" y="3661842"/>
            <a:ext cx="2247881" cy="235744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FINAL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1357313" y="4597673"/>
            <a:ext cx="6429375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5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T-Maint organiza o trabalho para que o crescimento da empresa não dependa de mais planilhas e mais conferências manuais.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285750"/>
            <a:ext cx="228600" cy="228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265" y="342900"/>
            <a:ext cx="40038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005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514350" y="800100"/>
            <a:ext cx="8115300" cy="78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650" b="1" kern="0" spc="-1" dirty="0">
                <a:solidFill>
                  <a:srgbClr val="073B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Comece pelo processo que mais gera retrabalho.</a:t>
            </a:r>
            <a:endParaRPr lang="en-US" sz="2650" dirty="0"/>
          </a:p>
        </p:txBody>
      </p:sp>
      <p:sp>
        <p:nvSpPr>
          <p:cNvPr id="6" name="Text 2"/>
          <p:cNvSpPr/>
          <p:nvPr/>
        </p:nvSpPr>
        <p:spPr>
          <a:xfrm>
            <a:off x="514350" y="1951583"/>
            <a:ext cx="6429375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implantação é uma evolução prática. Não exigimos que a empresa mude toda a operação no primeiro dia.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514350" y="2677344"/>
            <a:ext cx="1857375" cy="1448005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8" name="Shape 4"/>
          <p:cNvSpPr/>
          <p:nvPr/>
        </p:nvSpPr>
        <p:spPr>
          <a:xfrm>
            <a:off x="514350" y="2677344"/>
            <a:ext cx="485775" cy="485775"/>
          </a:xfrm>
          <a:prstGeom prst="rect">
            <a:avLst/>
          </a:prstGeom>
          <a:solidFill>
            <a:srgbClr val="FFFFFF"/>
          </a:solidFill>
          <a:ln w="18288">
            <a:solidFill>
              <a:srgbClr val="005B9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14350" y="2677344"/>
            <a:ext cx="485775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5B9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14350" y="3305994"/>
            <a:ext cx="1857375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1" dirty="0">
                <a:solidFill>
                  <a:srgbClr val="073B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MAPEAR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14350" y="3616747"/>
            <a:ext cx="1857375" cy="480027"/>
          </a:xfrm>
          <a:prstGeom prst="rect">
            <a:avLst/>
          </a:prstGeom>
          <a:noFill/>
          <a:ln/>
        </p:spPr>
        <p:txBody>
          <a:bodyPr wrap="square" lIns="0" tIns="0" rIns="136017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Cadastrar clientes, contratos, técnicos, tipos de OS e matriz de prioridades.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2600325" y="2677344"/>
            <a:ext cx="1857375" cy="1448005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13" name="Shape 9"/>
          <p:cNvSpPr/>
          <p:nvPr/>
        </p:nvSpPr>
        <p:spPr>
          <a:xfrm>
            <a:off x="2600325" y="2677344"/>
            <a:ext cx="485775" cy="485775"/>
          </a:xfrm>
          <a:prstGeom prst="rect">
            <a:avLst/>
          </a:prstGeom>
          <a:solidFill>
            <a:srgbClr val="FFFFFF"/>
          </a:solidFill>
          <a:ln w="18288">
            <a:solidFill>
              <a:srgbClr val="005B9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600325" y="2677344"/>
            <a:ext cx="485775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5B9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600325" y="3305994"/>
            <a:ext cx="1857375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1" dirty="0">
                <a:solidFill>
                  <a:srgbClr val="073B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OPERAR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600325" y="3616747"/>
            <a:ext cx="1857375" cy="480027"/>
          </a:xfrm>
          <a:prstGeom prst="rect">
            <a:avLst/>
          </a:prstGeom>
          <a:noFill/>
          <a:ln/>
        </p:spPr>
        <p:txBody>
          <a:bodyPr wrap="square" lIns="0" tIns="0" rIns="136017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Colocar a fila administrativa e os registros de campo em um único fluxo.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686300" y="2677344"/>
            <a:ext cx="1857375" cy="1448005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18" name="Shape 14"/>
          <p:cNvSpPr/>
          <p:nvPr/>
        </p:nvSpPr>
        <p:spPr>
          <a:xfrm>
            <a:off x="4686300" y="2677344"/>
            <a:ext cx="485775" cy="485775"/>
          </a:xfrm>
          <a:prstGeom prst="rect">
            <a:avLst/>
          </a:prstGeom>
          <a:solidFill>
            <a:srgbClr val="FFFFFF"/>
          </a:solidFill>
          <a:ln w="18288">
            <a:solidFill>
              <a:srgbClr val="005B9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686300" y="2677344"/>
            <a:ext cx="485775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5B9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686300" y="3305994"/>
            <a:ext cx="1857375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1" dirty="0">
                <a:solidFill>
                  <a:srgbClr val="073B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FECHAR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686300" y="3616747"/>
            <a:ext cx="1857375" cy="480027"/>
          </a:xfrm>
          <a:prstGeom prst="rect">
            <a:avLst/>
          </a:prstGeom>
          <a:noFill/>
          <a:ln/>
        </p:spPr>
        <p:txBody>
          <a:bodyPr wrap="square" lIns="0" tIns="0" rIns="136017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horas, KM, peças e relatórios diretamente com a gestão.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6772275" y="2677344"/>
            <a:ext cx="1857375" cy="1448005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23" name="Shape 19"/>
          <p:cNvSpPr/>
          <p:nvPr/>
        </p:nvSpPr>
        <p:spPr>
          <a:xfrm>
            <a:off x="6772275" y="2677344"/>
            <a:ext cx="485775" cy="485775"/>
          </a:xfrm>
          <a:prstGeom prst="rect">
            <a:avLst/>
          </a:prstGeom>
          <a:solidFill>
            <a:srgbClr val="FFFFFF"/>
          </a:solidFill>
          <a:ln w="18288">
            <a:solidFill>
              <a:srgbClr val="005B9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772275" y="2677344"/>
            <a:ext cx="485775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5B9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6772275" y="3305994"/>
            <a:ext cx="1857375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1" dirty="0">
                <a:solidFill>
                  <a:srgbClr val="073B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EXPANDIR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772275" y="3616747"/>
            <a:ext cx="1857375" cy="480027"/>
          </a:xfrm>
          <a:prstGeom prst="rect">
            <a:avLst/>
          </a:prstGeom>
          <a:noFill/>
          <a:ln/>
        </p:spPr>
        <p:txBody>
          <a:bodyPr wrap="square" lIns="0" tIns="0" rIns="136017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o histórico consolidado para melhorar SLA, margem e relacionamento.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514350" y="4382523"/>
            <a:ext cx="8115300" cy="714375"/>
          </a:xfrm>
          <a:prstGeom prst="rect">
            <a:avLst/>
          </a:prstGeom>
          <a:solidFill>
            <a:srgbClr val="073B66"/>
          </a:solidFill>
          <a:ln/>
        </p:spPr>
      </p:sp>
      <p:sp>
        <p:nvSpPr>
          <p:cNvPr id="28" name="Shape 24"/>
          <p:cNvSpPr/>
          <p:nvPr/>
        </p:nvSpPr>
        <p:spPr>
          <a:xfrm>
            <a:off x="514350" y="4382523"/>
            <a:ext cx="57150" cy="714375"/>
          </a:xfrm>
          <a:prstGeom prst="rect">
            <a:avLst/>
          </a:prstGeom>
          <a:solidFill>
            <a:srgbClr val="1DB5B2"/>
          </a:solidFill>
          <a:ln/>
        </p:spPr>
      </p:sp>
      <p:sp>
        <p:nvSpPr>
          <p:cNvPr id="29" name="Text 25"/>
          <p:cNvSpPr/>
          <p:nvPr/>
        </p:nvSpPr>
        <p:spPr>
          <a:xfrm>
            <a:off x="742950" y="4553973"/>
            <a:ext cx="7658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1DB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PASSO</a:t>
            </a:r>
            <a:endParaRPr lang="en-US" sz="700" dirty="0"/>
          </a:p>
        </p:txBody>
      </p:sp>
      <p:sp>
        <p:nvSpPr>
          <p:cNvPr id="30" name="Text 26"/>
          <p:cNvSpPr/>
          <p:nvPr/>
        </p:nvSpPr>
        <p:spPr>
          <a:xfrm>
            <a:off x="742950" y="4725423"/>
            <a:ext cx="76581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Escolher uma operação-piloto e medir o ganho de visibilidade no primeiro ciclo de fechamento.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6125" y="339623"/>
            <a:ext cx="2571750" cy="25717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318487" y="2399496"/>
            <a:ext cx="4507026" cy="1340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300" b="1" kern="0" spc="-1" dirty="0">
                <a:solidFill>
                  <a:srgbClr val="073B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+ Controle para a operação
+ Clareza para o financeiro
+ Confiança para o cliente</a:t>
            </a:r>
            <a:endParaRPr lang="en-US" sz="3300" dirty="0"/>
          </a:p>
        </p:txBody>
      </p:sp>
      <p:sp>
        <p:nvSpPr>
          <p:cNvPr id="5" name="Text 1"/>
          <p:cNvSpPr/>
          <p:nvPr/>
        </p:nvSpPr>
        <p:spPr>
          <a:xfrm>
            <a:off x="2547082" y="4514850"/>
            <a:ext cx="4049837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kern="0" spc="2" dirty="0">
                <a:solidFill>
                  <a:srgbClr val="0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 T-MAINT</a:t>
            </a:r>
            <a:endParaRPr lang="en-US" sz="700" dirty="0"/>
          </a:p>
        </p:txBody>
      </p:sp>
      <p:sp>
        <p:nvSpPr>
          <p:cNvPr id="6" name="Text 2"/>
          <p:cNvSpPr/>
          <p:nvPr/>
        </p:nvSpPr>
        <p:spPr>
          <a:xfrm>
            <a:off x="3745669" y="4881477"/>
            <a:ext cx="16526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kern="0" spc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Documentação-base: versão 2.4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951</Words>
  <Application>Microsoft Office PowerPoint</Application>
  <PresentationFormat>Apresentação na tela (16:9)</PresentationFormat>
  <Paragraphs>147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Arial Narrow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João Tomaselli</cp:lastModifiedBy>
  <cp:revision>2</cp:revision>
  <dcterms:created xsi:type="dcterms:W3CDTF">2026-08-11T14:13:37Z</dcterms:created>
  <dcterms:modified xsi:type="dcterms:W3CDTF">2026-08-11T14:24:40Z</dcterms:modified>
</cp:coreProperties>
</file>